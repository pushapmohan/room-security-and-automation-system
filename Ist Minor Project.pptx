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7" r:id="rId2"/>
    <p:sldId id="256"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3" d="100"/>
          <a:sy n="93" d="100"/>
        </p:scale>
        <p:origin x="21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1254309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2134702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1930033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76912F-AB67-4E14-AE2F-7FE27CC86EB1}"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1048283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76912F-AB67-4E14-AE2F-7FE27CC86EB1}" type="datetimeFigureOut">
              <a:rPr lang="en-IN" smtClean="0"/>
              <a:t>14-01-2025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1495365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297223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113562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330694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76912F-AB67-4E14-AE2F-7FE27CC86EB1}"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3699887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76912F-AB67-4E14-AE2F-7FE27CC86EB1}"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755659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12860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93047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261970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3730155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30487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688891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76912F-AB67-4E14-AE2F-7FE27CC86EB1}"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F39576-1211-4F41-9448-F91B27594053}" type="slidenum">
              <a:rPr lang="en-IN" smtClean="0"/>
              <a:t>‹#›</a:t>
            </a:fld>
            <a:endParaRPr lang="en-IN"/>
          </a:p>
        </p:txBody>
      </p:sp>
    </p:spTree>
    <p:extLst>
      <p:ext uri="{BB962C8B-B14F-4D97-AF65-F5344CB8AC3E}">
        <p14:creationId xmlns:p14="http://schemas.microsoft.com/office/powerpoint/2010/main" val="343440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076912F-AB67-4E14-AE2F-7FE27CC86EB1}" type="datetimeFigureOut">
              <a:rPr lang="en-IN" smtClean="0"/>
              <a:t>14-01-2025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7F39576-1211-4F41-9448-F91B27594053}" type="slidenum">
              <a:rPr lang="en-IN" smtClean="0"/>
              <a:t>‹#›</a:t>
            </a:fld>
            <a:endParaRPr lang="en-IN"/>
          </a:p>
        </p:txBody>
      </p:sp>
    </p:spTree>
    <p:extLst>
      <p:ext uri="{BB962C8B-B14F-4D97-AF65-F5344CB8AC3E}">
        <p14:creationId xmlns:p14="http://schemas.microsoft.com/office/powerpoint/2010/main" val="1859577736"/>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VLSI Tech Talks ...">
            <a:extLst>
              <a:ext uri="{FF2B5EF4-FFF2-40B4-BE49-F238E27FC236}">
                <a16:creationId xmlns:a16="http://schemas.microsoft.com/office/drawing/2014/main" id="{02B73F4C-A8C5-703A-6685-CD2220730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05" y="749642"/>
            <a:ext cx="11928389" cy="42260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1E5F03-2FC0-F32E-2817-D237B62E0170}"/>
              </a:ext>
            </a:extLst>
          </p:cNvPr>
          <p:cNvSpPr txBox="1"/>
          <p:nvPr/>
        </p:nvSpPr>
        <p:spPr>
          <a:xfrm>
            <a:off x="2108885" y="9270"/>
            <a:ext cx="8377882" cy="584775"/>
          </a:xfrm>
          <a:prstGeom prst="rect">
            <a:avLst/>
          </a:prstGeom>
          <a:noFill/>
        </p:spPr>
        <p:txBody>
          <a:bodyPr wrap="square" rtlCol="0">
            <a:spAutoFit/>
          </a:bodyPr>
          <a:lstStyle/>
          <a:p>
            <a:pPr algn="ctr"/>
            <a:r>
              <a:rPr lang="en-IN" sz="3200" b="1" dirty="0"/>
              <a:t>VLSI : VERY LARGE SCALE INTEGRATION</a:t>
            </a:r>
          </a:p>
        </p:txBody>
      </p:sp>
      <p:sp>
        <p:nvSpPr>
          <p:cNvPr id="5" name="TextBox 4">
            <a:extLst>
              <a:ext uri="{FF2B5EF4-FFF2-40B4-BE49-F238E27FC236}">
                <a16:creationId xmlns:a16="http://schemas.microsoft.com/office/drawing/2014/main" id="{D0A70BC1-7ED4-8142-35AC-F5DC6CBCB0C8}"/>
              </a:ext>
            </a:extLst>
          </p:cNvPr>
          <p:cNvSpPr txBox="1"/>
          <p:nvPr/>
        </p:nvSpPr>
        <p:spPr>
          <a:xfrm>
            <a:off x="218302" y="6339355"/>
            <a:ext cx="4407244" cy="369332"/>
          </a:xfrm>
          <a:prstGeom prst="rect">
            <a:avLst/>
          </a:prstGeom>
          <a:noFill/>
        </p:spPr>
        <p:txBody>
          <a:bodyPr wrap="square" rtlCol="0">
            <a:spAutoFit/>
          </a:bodyPr>
          <a:lstStyle/>
          <a:p>
            <a:r>
              <a:rPr lang="en-IN" dirty="0"/>
              <a:t>Course Instructor : Mrs. Vaishnavi</a:t>
            </a:r>
          </a:p>
        </p:txBody>
      </p:sp>
    </p:spTree>
    <p:extLst>
      <p:ext uri="{BB962C8B-B14F-4D97-AF65-F5344CB8AC3E}">
        <p14:creationId xmlns:p14="http://schemas.microsoft.com/office/powerpoint/2010/main" val="3397108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9151C6-5BA8-64CE-8387-E1530BE7F674}"/>
              </a:ext>
            </a:extLst>
          </p:cNvPr>
          <p:cNvPicPr>
            <a:picLocks noChangeAspect="1"/>
          </p:cNvPicPr>
          <p:nvPr/>
        </p:nvPicPr>
        <p:blipFill>
          <a:blip r:embed="rId2"/>
          <a:stretch>
            <a:fillRect/>
          </a:stretch>
        </p:blipFill>
        <p:spPr>
          <a:xfrm>
            <a:off x="3921210" y="0"/>
            <a:ext cx="3385752" cy="1853514"/>
          </a:xfrm>
          <a:prstGeom prst="rect">
            <a:avLst/>
          </a:prstGeom>
        </p:spPr>
      </p:pic>
      <p:sp>
        <p:nvSpPr>
          <p:cNvPr id="6" name="TextBox 5">
            <a:extLst>
              <a:ext uri="{FF2B5EF4-FFF2-40B4-BE49-F238E27FC236}">
                <a16:creationId xmlns:a16="http://schemas.microsoft.com/office/drawing/2014/main" id="{F75DAB81-044B-572C-7120-23C56BA9A990}"/>
              </a:ext>
            </a:extLst>
          </p:cNvPr>
          <p:cNvSpPr txBox="1"/>
          <p:nvPr/>
        </p:nvSpPr>
        <p:spPr>
          <a:xfrm>
            <a:off x="2183026" y="2215979"/>
            <a:ext cx="7661190" cy="1569660"/>
          </a:xfrm>
          <a:prstGeom prst="rect">
            <a:avLst/>
          </a:prstGeom>
          <a:noFill/>
        </p:spPr>
        <p:txBody>
          <a:bodyPr wrap="square" rtlCol="0">
            <a:spAutoFit/>
          </a:bodyPr>
          <a:lstStyle/>
          <a:p>
            <a:pPr algn="ctr"/>
            <a:r>
              <a:rPr lang="en-IN" sz="2800" b="1" dirty="0">
                <a:solidFill>
                  <a:srgbClr val="92D050"/>
                </a:solidFill>
              </a:rPr>
              <a:t>DIGITAL LOGIC DESIGN</a:t>
            </a:r>
          </a:p>
          <a:p>
            <a:pPr algn="ctr"/>
            <a:r>
              <a:rPr lang="en-IN" dirty="0"/>
              <a:t>		</a:t>
            </a:r>
            <a:r>
              <a:rPr lang="en-IN" sz="2000" b="1" dirty="0">
                <a:solidFill>
                  <a:srgbClr val="92D050"/>
                </a:solidFill>
              </a:rPr>
              <a:t>Simulation Based Project</a:t>
            </a:r>
            <a:endParaRPr lang="en-IN" b="1" dirty="0">
              <a:solidFill>
                <a:srgbClr val="92D050"/>
              </a:solidFill>
            </a:endParaRPr>
          </a:p>
          <a:p>
            <a:pPr algn="ctr"/>
            <a:endParaRPr lang="en-IN" sz="2000" b="1" dirty="0">
              <a:solidFill>
                <a:srgbClr val="FFC000"/>
              </a:solidFill>
            </a:endParaRPr>
          </a:p>
          <a:p>
            <a:pPr algn="ctr"/>
            <a:r>
              <a:rPr lang="en-IN" sz="2800" b="1" dirty="0">
                <a:solidFill>
                  <a:srgbClr val="FFC000"/>
                </a:solidFill>
              </a:rPr>
              <a:t>ROOM SECURITY AND AUTOMATION SYSTEM</a:t>
            </a:r>
            <a:endParaRPr lang="en-IN" b="1" dirty="0">
              <a:solidFill>
                <a:srgbClr val="FFC000"/>
              </a:solidFill>
            </a:endParaRPr>
          </a:p>
        </p:txBody>
      </p:sp>
      <p:sp>
        <p:nvSpPr>
          <p:cNvPr id="9" name="TextBox 8">
            <a:extLst>
              <a:ext uri="{FF2B5EF4-FFF2-40B4-BE49-F238E27FC236}">
                <a16:creationId xmlns:a16="http://schemas.microsoft.com/office/drawing/2014/main" id="{287E1D88-9EB7-6AD6-28A8-77EC9A42360C}"/>
              </a:ext>
            </a:extLst>
          </p:cNvPr>
          <p:cNvSpPr txBox="1"/>
          <p:nvPr/>
        </p:nvSpPr>
        <p:spPr>
          <a:xfrm>
            <a:off x="0" y="5564660"/>
            <a:ext cx="6557319" cy="1261884"/>
          </a:xfrm>
          <a:prstGeom prst="rect">
            <a:avLst/>
          </a:prstGeom>
          <a:noFill/>
        </p:spPr>
        <p:txBody>
          <a:bodyPr wrap="square" rtlCol="0">
            <a:spAutoFit/>
          </a:bodyPr>
          <a:lstStyle/>
          <a:p>
            <a:r>
              <a:rPr lang="en-IN" sz="2400" b="1" dirty="0">
                <a:solidFill>
                  <a:srgbClr val="92D050"/>
                </a:solidFill>
              </a:rPr>
              <a:t>Presented By: </a:t>
            </a:r>
            <a:r>
              <a:rPr lang="en-IN" sz="2400" b="1" dirty="0" err="1">
                <a:solidFill>
                  <a:srgbClr val="92D050"/>
                </a:solidFill>
              </a:rPr>
              <a:t>Pushap</a:t>
            </a:r>
            <a:r>
              <a:rPr lang="en-IN" sz="2400" b="1" dirty="0">
                <a:solidFill>
                  <a:srgbClr val="92D050"/>
                </a:solidFill>
              </a:rPr>
              <a:t> Mohan Sharma</a:t>
            </a:r>
          </a:p>
          <a:p>
            <a:r>
              <a:rPr lang="en-IN" sz="2400" b="1" dirty="0" err="1">
                <a:solidFill>
                  <a:srgbClr val="92D050"/>
                </a:solidFill>
              </a:rPr>
              <a:t>B.Tech-Ist</a:t>
            </a:r>
            <a:r>
              <a:rPr lang="en-IN" sz="2400" b="1" dirty="0">
                <a:solidFill>
                  <a:srgbClr val="92D050"/>
                </a:solidFill>
              </a:rPr>
              <a:t> Year, Micro-Electronics and VLSI</a:t>
            </a:r>
          </a:p>
          <a:p>
            <a:r>
              <a:rPr lang="en-IN" sz="2800" b="1" dirty="0">
                <a:solidFill>
                  <a:srgbClr val="92D050"/>
                </a:solidFill>
              </a:rPr>
              <a:t>Roll No: 124113008</a:t>
            </a:r>
            <a:endParaRPr lang="en-IN" b="1" dirty="0">
              <a:solidFill>
                <a:srgbClr val="FFC000"/>
              </a:solidFill>
            </a:endParaRPr>
          </a:p>
        </p:txBody>
      </p:sp>
    </p:spTree>
    <p:extLst>
      <p:ext uri="{BB962C8B-B14F-4D97-AF65-F5344CB8AC3E}">
        <p14:creationId xmlns:p14="http://schemas.microsoft.com/office/powerpoint/2010/main" val="116445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93F372-4BDA-364C-1538-5D1018B4F110}"/>
              </a:ext>
            </a:extLst>
          </p:cNvPr>
          <p:cNvSpPr txBox="1"/>
          <p:nvPr/>
        </p:nvSpPr>
        <p:spPr>
          <a:xfrm>
            <a:off x="0" y="282303"/>
            <a:ext cx="10387915" cy="5041060"/>
          </a:xfrm>
          <a:prstGeom prst="rect">
            <a:avLst/>
          </a:prstGeom>
          <a:noFill/>
        </p:spPr>
        <p:txBody>
          <a:bodyPr wrap="square">
            <a:spAutoFit/>
          </a:bodyPr>
          <a:lstStyle/>
          <a:p>
            <a:r>
              <a:rPr lang="en-IN" sz="2800" b="1" dirty="0">
                <a:solidFill>
                  <a:srgbClr val="00B0F0"/>
                </a:solidFill>
              </a:rPr>
              <a:t>Scenario: </a:t>
            </a:r>
          </a:p>
          <a:p>
            <a:pPr marL="285750" indent="-285750" algn="just">
              <a:lnSpc>
                <a:spcPct val="150000"/>
              </a:lnSpc>
              <a:buFont typeface="Wingdings" panose="05000000000000000000" pitchFamily="2" charset="2"/>
              <a:buChar char="v"/>
            </a:pPr>
            <a:r>
              <a:rPr lang="en-IN" dirty="0"/>
              <a:t>There's "Digital Lock" on the door of the room. To enter the room someone must enter 5 digit pin. The lock takes only binary numbers as pin. If 5 digit pin is correctly given then the door is unlocked.</a:t>
            </a:r>
          </a:p>
          <a:p>
            <a:pPr marL="285750" indent="-285750" algn="just">
              <a:lnSpc>
                <a:spcPct val="150000"/>
              </a:lnSpc>
              <a:buFont typeface="Wingdings" panose="05000000000000000000" pitchFamily="2" charset="2"/>
              <a:buChar char="v"/>
            </a:pPr>
            <a:r>
              <a:rPr lang="en-IN" dirty="0"/>
              <a:t> Inside the room there's a "Motion detector". If the motion detector detects any movement then "Light bulb" will turn on and also checks room temperature. If room temperature is high then "Air Condition" is also turned on. </a:t>
            </a:r>
          </a:p>
          <a:p>
            <a:pPr marL="285750" indent="-285750" algn="just">
              <a:lnSpc>
                <a:spcPct val="150000"/>
              </a:lnSpc>
              <a:buFont typeface="Wingdings" panose="05000000000000000000" pitchFamily="2" charset="2"/>
              <a:buChar char="v"/>
            </a:pPr>
            <a:r>
              <a:rPr lang="en-IN" dirty="0"/>
              <a:t>Now, if someone gives incorrect pin the system will show wrong Pin. After giving incorrect pin 3 times in a row the system will notify the owner and "Alarm" will go off. But if correct pin is given before 3 tries the counter resets itself. </a:t>
            </a:r>
          </a:p>
          <a:p>
            <a:pPr marL="285750" indent="-285750" algn="just">
              <a:lnSpc>
                <a:spcPct val="150000"/>
              </a:lnSpc>
              <a:buFont typeface="Wingdings" panose="05000000000000000000" pitchFamily="2" charset="2"/>
              <a:buChar char="v"/>
            </a:pPr>
            <a:r>
              <a:rPr lang="en-IN" dirty="0"/>
              <a:t>There's another security option. If the door lock is unchecked but there's movement inside the room, the alarm will go off and notify owner. </a:t>
            </a:r>
          </a:p>
        </p:txBody>
      </p:sp>
    </p:spTree>
    <p:extLst>
      <p:ext uri="{BB962C8B-B14F-4D97-AF65-F5344CB8AC3E}">
        <p14:creationId xmlns:p14="http://schemas.microsoft.com/office/powerpoint/2010/main" val="3990139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DC28E18-91BE-88D6-D392-E58404C6683A}"/>
              </a:ext>
            </a:extLst>
          </p:cNvPr>
          <p:cNvSpPr txBox="1"/>
          <p:nvPr/>
        </p:nvSpPr>
        <p:spPr>
          <a:xfrm>
            <a:off x="98853" y="78938"/>
            <a:ext cx="9193427" cy="3148234"/>
          </a:xfrm>
          <a:prstGeom prst="rect">
            <a:avLst/>
          </a:prstGeom>
          <a:noFill/>
        </p:spPr>
        <p:txBody>
          <a:bodyPr wrap="square">
            <a:spAutoFit/>
          </a:bodyPr>
          <a:lstStyle/>
          <a:p>
            <a:r>
              <a:rPr lang="en-IN" sz="2000" b="1" dirty="0">
                <a:solidFill>
                  <a:srgbClr val="00B0F0"/>
                </a:solidFill>
              </a:rPr>
              <a:t>Problem breakdown: </a:t>
            </a:r>
          </a:p>
          <a:p>
            <a:endParaRPr lang="en-IN" sz="2000" b="1" dirty="0">
              <a:solidFill>
                <a:srgbClr val="00B0F0"/>
              </a:solidFill>
            </a:endParaRPr>
          </a:p>
          <a:p>
            <a:pPr marL="285750" indent="-285750">
              <a:lnSpc>
                <a:spcPct val="150000"/>
              </a:lnSpc>
              <a:buFont typeface="Wingdings" panose="05000000000000000000" pitchFamily="2" charset="2"/>
              <a:buChar char="v"/>
            </a:pPr>
            <a:r>
              <a:rPr lang="en-IN" dirty="0"/>
              <a:t>Step 1: Making a password/ pin checking system that checks 5 digits inputs. </a:t>
            </a:r>
          </a:p>
          <a:p>
            <a:pPr marL="285750" indent="-285750">
              <a:lnSpc>
                <a:spcPct val="150000"/>
              </a:lnSpc>
              <a:buFont typeface="Wingdings" panose="05000000000000000000" pitchFamily="2" charset="2"/>
              <a:buChar char="v"/>
            </a:pPr>
            <a:r>
              <a:rPr lang="en-IN" dirty="0"/>
              <a:t>Step 2: Making a Counter that can check number of times wrong pin is given.</a:t>
            </a:r>
          </a:p>
          <a:p>
            <a:pPr marL="285750" indent="-285750">
              <a:lnSpc>
                <a:spcPct val="150000"/>
              </a:lnSpc>
              <a:buFont typeface="Wingdings" panose="05000000000000000000" pitchFamily="2" charset="2"/>
              <a:buChar char="v"/>
            </a:pPr>
            <a:r>
              <a:rPr lang="en-IN" dirty="0"/>
              <a:t>Step 3: Making an alarm that goes off if n number of times wrong pin is given or there's unexpected movement. </a:t>
            </a:r>
          </a:p>
          <a:p>
            <a:pPr marL="285750" indent="-285750">
              <a:lnSpc>
                <a:spcPct val="150000"/>
              </a:lnSpc>
              <a:buFont typeface="Wingdings" panose="05000000000000000000" pitchFamily="2" charset="2"/>
              <a:buChar char="v"/>
            </a:pPr>
            <a:r>
              <a:rPr lang="en-IN" dirty="0"/>
              <a:t>Step 4: Making Light bulb and AC that can be turned on conditionally. </a:t>
            </a:r>
          </a:p>
          <a:p>
            <a:pPr marL="285750" indent="-285750">
              <a:lnSpc>
                <a:spcPct val="150000"/>
              </a:lnSpc>
              <a:buFont typeface="Wingdings" panose="05000000000000000000" pitchFamily="2" charset="2"/>
              <a:buChar char="v"/>
            </a:pPr>
            <a:r>
              <a:rPr lang="en-IN" dirty="0"/>
              <a:t>Step 5: Combining all the above mentioned small systems together. </a:t>
            </a:r>
          </a:p>
        </p:txBody>
      </p:sp>
    </p:spTree>
    <p:extLst>
      <p:ext uri="{BB962C8B-B14F-4D97-AF65-F5344CB8AC3E}">
        <p14:creationId xmlns:p14="http://schemas.microsoft.com/office/powerpoint/2010/main" val="2011601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B053D4B-3639-5750-9A43-67BDA3A86665}"/>
              </a:ext>
            </a:extLst>
          </p:cNvPr>
          <p:cNvSpPr txBox="1"/>
          <p:nvPr/>
        </p:nvSpPr>
        <p:spPr>
          <a:xfrm>
            <a:off x="0" y="96961"/>
            <a:ext cx="9959546" cy="2563459"/>
          </a:xfrm>
          <a:prstGeom prst="rect">
            <a:avLst/>
          </a:prstGeom>
          <a:noFill/>
        </p:spPr>
        <p:txBody>
          <a:bodyPr wrap="square">
            <a:spAutoFit/>
          </a:bodyPr>
          <a:lstStyle/>
          <a:p>
            <a:r>
              <a:rPr lang="en-IN" sz="2800" b="1" dirty="0">
                <a:solidFill>
                  <a:srgbClr val="00B0F0"/>
                </a:solidFill>
              </a:rPr>
              <a:t>Solution: </a:t>
            </a:r>
          </a:p>
          <a:p>
            <a:endParaRPr lang="en-IN" sz="2800" b="1" dirty="0">
              <a:solidFill>
                <a:srgbClr val="00B0F0"/>
              </a:solidFill>
            </a:endParaRPr>
          </a:p>
          <a:p>
            <a:pPr marL="285750" indent="-285750">
              <a:lnSpc>
                <a:spcPct val="150000"/>
              </a:lnSpc>
              <a:buFont typeface="Wingdings" panose="05000000000000000000" pitchFamily="2" charset="2"/>
              <a:buChar char="v"/>
            </a:pPr>
            <a:r>
              <a:rPr lang="en-IN" dirty="0"/>
              <a:t>Step 1: We need something that can check if all the inputs are same. XNOR gate </a:t>
            </a:r>
          </a:p>
          <a:p>
            <a:pPr marL="285750" indent="-285750">
              <a:lnSpc>
                <a:spcPct val="150000"/>
              </a:lnSpc>
              <a:buFont typeface="Wingdings" panose="05000000000000000000" pitchFamily="2" charset="2"/>
              <a:buChar char="v"/>
            </a:pPr>
            <a:r>
              <a:rPr lang="en-IN" dirty="0"/>
              <a:t>Step 2: We can make Counter using JK flip-flop.</a:t>
            </a:r>
          </a:p>
          <a:p>
            <a:pPr marL="285750" indent="-285750">
              <a:lnSpc>
                <a:spcPct val="150000"/>
              </a:lnSpc>
              <a:buFont typeface="Wingdings" panose="05000000000000000000" pitchFamily="2" charset="2"/>
              <a:buChar char="v"/>
            </a:pPr>
            <a:r>
              <a:rPr lang="en-IN" dirty="0"/>
              <a:t>Step 3: Alarm system can be made using few logic gates. </a:t>
            </a:r>
          </a:p>
          <a:p>
            <a:pPr marL="285750" indent="-285750">
              <a:lnSpc>
                <a:spcPct val="150000"/>
              </a:lnSpc>
              <a:buFont typeface="Wingdings" panose="05000000000000000000" pitchFamily="2" charset="2"/>
              <a:buChar char="v"/>
            </a:pPr>
            <a:r>
              <a:rPr lang="en-IN" dirty="0"/>
              <a:t>Step 4: Light bulb and AC can turned on with logic gates. </a:t>
            </a:r>
          </a:p>
        </p:txBody>
      </p:sp>
    </p:spTree>
    <p:extLst>
      <p:ext uri="{BB962C8B-B14F-4D97-AF65-F5344CB8AC3E}">
        <p14:creationId xmlns:p14="http://schemas.microsoft.com/office/powerpoint/2010/main" val="1331177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5233305-C244-887A-4476-922C9B961774}"/>
              </a:ext>
            </a:extLst>
          </p:cNvPr>
          <p:cNvSpPr txBox="1"/>
          <p:nvPr/>
        </p:nvSpPr>
        <p:spPr>
          <a:xfrm>
            <a:off x="150968" y="79457"/>
            <a:ext cx="6096000" cy="5309146"/>
          </a:xfrm>
          <a:prstGeom prst="rect">
            <a:avLst/>
          </a:prstGeom>
          <a:noFill/>
        </p:spPr>
        <p:txBody>
          <a:bodyPr wrap="square">
            <a:spAutoFit/>
          </a:bodyPr>
          <a:lstStyle/>
          <a:p>
            <a:r>
              <a:rPr lang="en-US" sz="2400" b="1" dirty="0">
                <a:solidFill>
                  <a:srgbClr val="00B0F0"/>
                </a:solidFill>
              </a:rPr>
              <a:t>Components: </a:t>
            </a:r>
          </a:p>
          <a:p>
            <a:pPr marL="285750" indent="-285750">
              <a:lnSpc>
                <a:spcPct val="150000"/>
              </a:lnSpc>
              <a:buFont typeface="Wingdings" panose="05000000000000000000" pitchFamily="2" charset="2"/>
              <a:buChar char="v"/>
            </a:pPr>
            <a:endParaRPr lang="en-US" dirty="0"/>
          </a:p>
          <a:p>
            <a:pPr marL="285750" indent="-285750">
              <a:lnSpc>
                <a:spcPct val="150000"/>
              </a:lnSpc>
              <a:buFont typeface="Wingdings" panose="05000000000000000000" pitchFamily="2" charset="2"/>
              <a:buChar char="v"/>
            </a:pPr>
            <a:r>
              <a:rPr lang="en-US" dirty="0"/>
              <a:t>XNOR_2 			5</a:t>
            </a:r>
          </a:p>
          <a:p>
            <a:pPr marL="285750" indent="-285750">
              <a:lnSpc>
                <a:spcPct val="150000"/>
              </a:lnSpc>
              <a:buFont typeface="Wingdings" panose="05000000000000000000" pitchFamily="2" charset="2"/>
              <a:buChar char="v"/>
            </a:pPr>
            <a:r>
              <a:rPr lang="en-US" dirty="0"/>
              <a:t>AND_5 			1</a:t>
            </a:r>
          </a:p>
          <a:p>
            <a:pPr marL="285750" indent="-285750">
              <a:lnSpc>
                <a:spcPct val="150000"/>
              </a:lnSpc>
              <a:buFont typeface="Wingdings" panose="05000000000000000000" pitchFamily="2" charset="2"/>
              <a:buChar char="v"/>
            </a:pPr>
            <a:r>
              <a:rPr lang="en-US" dirty="0"/>
              <a:t>AND_2 			6</a:t>
            </a:r>
          </a:p>
          <a:p>
            <a:pPr marL="285750" indent="-285750">
              <a:lnSpc>
                <a:spcPct val="150000"/>
              </a:lnSpc>
              <a:buFont typeface="Wingdings" panose="05000000000000000000" pitchFamily="2" charset="2"/>
              <a:buChar char="v"/>
            </a:pPr>
            <a:r>
              <a:rPr lang="en-US" dirty="0"/>
              <a:t>NOT 				4</a:t>
            </a:r>
          </a:p>
          <a:p>
            <a:pPr marL="285750" indent="-285750">
              <a:lnSpc>
                <a:spcPct val="150000"/>
              </a:lnSpc>
              <a:buFont typeface="Wingdings" panose="05000000000000000000" pitchFamily="2" charset="2"/>
              <a:buChar char="v"/>
            </a:pPr>
            <a:r>
              <a:rPr lang="en-US" dirty="0"/>
              <a:t>JK_FF 			2</a:t>
            </a:r>
          </a:p>
          <a:p>
            <a:pPr marL="285750" indent="-285750">
              <a:lnSpc>
                <a:spcPct val="150000"/>
              </a:lnSpc>
              <a:buFont typeface="Wingdings" panose="05000000000000000000" pitchFamily="2" charset="2"/>
              <a:buChar char="v"/>
            </a:pPr>
            <a:r>
              <a:rPr lang="en-US" dirty="0" err="1"/>
              <a:t>Prob_Light</a:t>
            </a:r>
            <a:r>
              <a:rPr lang="en-US" dirty="0"/>
              <a:t> 		5</a:t>
            </a:r>
          </a:p>
          <a:p>
            <a:pPr marL="285750" indent="-285750">
              <a:lnSpc>
                <a:spcPct val="150000"/>
              </a:lnSpc>
              <a:buFont typeface="Wingdings" panose="05000000000000000000" pitchFamily="2" charset="2"/>
              <a:buChar char="v"/>
            </a:pPr>
            <a:r>
              <a:rPr lang="en-US" dirty="0"/>
              <a:t>DCD_HEX 		1</a:t>
            </a:r>
          </a:p>
          <a:p>
            <a:pPr marL="285750" indent="-285750">
              <a:lnSpc>
                <a:spcPct val="150000"/>
              </a:lnSpc>
              <a:buFont typeface="Wingdings" panose="05000000000000000000" pitchFamily="2" charset="2"/>
              <a:buChar char="v"/>
            </a:pPr>
            <a:endParaRPr lang="en-US" dirty="0"/>
          </a:p>
          <a:p>
            <a:r>
              <a:rPr lang="en-US" b="1" dirty="0">
                <a:solidFill>
                  <a:srgbClr val="00B0F0"/>
                </a:solidFill>
              </a:rPr>
              <a:t>Software Used </a:t>
            </a:r>
            <a:r>
              <a:rPr lang="en-US" sz="1800" b="1" dirty="0">
                <a:solidFill>
                  <a:srgbClr val="00B0F0"/>
                </a:solidFill>
              </a:rPr>
              <a:t>:</a:t>
            </a:r>
          </a:p>
          <a:p>
            <a:endParaRPr lang="en-US" sz="1800" b="1" dirty="0">
              <a:solidFill>
                <a:srgbClr val="00B0F0"/>
              </a:solidFill>
            </a:endParaRPr>
          </a:p>
          <a:p>
            <a:pPr marL="285750" indent="-285750">
              <a:buFont typeface="Wingdings" panose="05000000000000000000" pitchFamily="2" charset="2"/>
              <a:buChar char="v"/>
            </a:pPr>
            <a:r>
              <a:rPr lang="en-US" b="1" dirty="0"/>
              <a:t>NI Multisim</a:t>
            </a:r>
            <a:r>
              <a:rPr lang="en-US" sz="1800" b="1" dirty="0"/>
              <a:t> </a:t>
            </a:r>
          </a:p>
          <a:p>
            <a:endParaRPr lang="en-US" dirty="0"/>
          </a:p>
        </p:txBody>
      </p:sp>
    </p:spTree>
    <p:extLst>
      <p:ext uri="{BB962C8B-B14F-4D97-AF65-F5344CB8AC3E}">
        <p14:creationId xmlns:p14="http://schemas.microsoft.com/office/powerpoint/2010/main" val="585309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F91675-D6E8-D557-2F78-1F672359E98B}"/>
              </a:ext>
            </a:extLst>
          </p:cNvPr>
          <p:cNvPicPr>
            <a:picLocks noChangeAspect="1"/>
          </p:cNvPicPr>
          <p:nvPr/>
        </p:nvPicPr>
        <p:blipFill>
          <a:blip r:embed="rId2"/>
          <a:stretch>
            <a:fillRect/>
          </a:stretch>
        </p:blipFill>
        <p:spPr>
          <a:xfrm>
            <a:off x="774576" y="643327"/>
            <a:ext cx="9695715" cy="6111700"/>
          </a:xfrm>
          <a:prstGeom prst="rect">
            <a:avLst/>
          </a:prstGeom>
        </p:spPr>
      </p:pic>
      <p:sp>
        <p:nvSpPr>
          <p:cNvPr id="6" name="TextBox 5">
            <a:extLst>
              <a:ext uri="{FF2B5EF4-FFF2-40B4-BE49-F238E27FC236}">
                <a16:creationId xmlns:a16="http://schemas.microsoft.com/office/drawing/2014/main" id="{7EA04D93-13C3-C533-E909-A0E9800802E3}"/>
              </a:ext>
            </a:extLst>
          </p:cNvPr>
          <p:cNvSpPr txBox="1"/>
          <p:nvPr/>
        </p:nvSpPr>
        <p:spPr>
          <a:xfrm>
            <a:off x="3352800" y="0"/>
            <a:ext cx="4588476" cy="523220"/>
          </a:xfrm>
          <a:prstGeom prst="rect">
            <a:avLst/>
          </a:prstGeom>
          <a:noFill/>
        </p:spPr>
        <p:txBody>
          <a:bodyPr wrap="square" rtlCol="0">
            <a:spAutoFit/>
          </a:bodyPr>
          <a:lstStyle/>
          <a:p>
            <a:pPr algn="ctr"/>
            <a:r>
              <a:rPr lang="en-IN" sz="2800" b="1" dirty="0">
                <a:solidFill>
                  <a:srgbClr val="00B0F0"/>
                </a:solidFill>
              </a:rPr>
              <a:t>Design in Multisim</a:t>
            </a:r>
          </a:p>
        </p:txBody>
      </p:sp>
    </p:spTree>
    <p:extLst>
      <p:ext uri="{BB962C8B-B14F-4D97-AF65-F5344CB8AC3E}">
        <p14:creationId xmlns:p14="http://schemas.microsoft.com/office/powerpoint/2010/main" val="253621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AEDB84-C004-73EE-9A72-0EE46632A188}"/>
              </a:ext>
            </a:extLst>
          </p:cNvPr>
          <p:cNvPicPr>
            <a:picLocks noChangeAspect="1"/>
          </p:cNvPicPr>
          <p:nvPr/>
        </p:nvPicPr>
        <p:blipFill>
          <a:blip r:embed="rId2"/>
          <a:stretch>
            <a:fillRect/>
          </a:stretch>
        </p:blipFill>
        <p:spPr>
          <a:xfrm>
            <a:off x="156518" y="804727"/>
            <a:ext cx="10017211" cy="5686689"/>
          </a:xfrm>
          <a:prstGeom prst="rect">
            <a:avLst/>
          </a:prstGeom>
        </p:spPr>
      </p:pic>
      <p:sp>
        <p:nvSpPr>
          <p:cNvPr id="6" name="TextBox 5">
            <a:extLst>
              <a:ext uri="{FF2B5EF4-FFF2-40B4-BE49-F238E27FC236}">
                <a16:creationId xmlns:a16="http://schemas.microsoft.com/office/drawing/2014/main" id="{97402D14-4259-D1D4-EBCF-AA5778012522}"/>
              </a:ext>
            </a:extLst>
          </p:cNvPr>
          <p:cNvSpPr txBox="1"/>
          <p:nvPr/>
        </p:nvSpPr>
        <p:spPr>
          <a:xfrm>
            <a:off x="0" y="135751"/>
            <a:ext cx="9473513" cy="461665"/>
          </a:xfrm>
          <a:prstGeom prst="rect">
            <a:avLst/>
          </a:prstGeom>
          <a:noFill/>
        </p:spPr>
        <p:txBody>
          <a:bodyPr wrap="square" rtlCol="0">
            <a:spAutoFit/>
          </a:bodyPr>
          <a:lstStyle/>
          <a:p>
            <a:r>
              <a:rPr lang="en-IN" sz="2400" b="1" dirty="0">
                <a:solidFill>
                  <a:srgbClr val="00B0F0"/>
                </a:solidFill>
              </a:rPr>
              <a:t>Case 1- When PIN entered Matches the Stored Pin</a:t>
            </a:r>
          </a:p>
        </p:txBody>
      </p:sp>
    </p:spTree>
    <p:extLst>
      <p:ext uri="{BB962C8B-B14F-4D97-AF65-F5344CB8AC3E}">
        <p14:creationId xmlns:p14="http://schemas.microsoft.com/office/powerpoint/2010/main" val="1676665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B98AD0-C35C-D08C-F784-81AD0118616F}"/>
              </a:ext>
            </a:extLst>
          </p:cNvPr>
          <p:cNvPicPr>
            <a:picLocks noChangeAspect="1"/>
          </p:cNvPicPr>
          <p:nvPr/>
        </p:nvPicPr>
        <p:blipFill>
          <a:blip r:embed="rId2"/>
          <a:stretch>
            <a:fillRect/>
          </a:stretch>
        </p:blipFill>
        <p:spPr>
          <a:xfrm>
            <a:off x="197708" y="576650"/>
            <a:ext cx="9868929" cy="6099852"/>
          </a:xfrm>
          <a:prstGeom prst="rect">
            <a:avLst/>
          </a:prstGeom>
        </p:spPr>
      </p:pic>
      <p:sp>
        <p:nvSpPr>
          <p:cNvPr id="6" name="TextBox 5">
            <a:extLst>
              <a:ext uri="{FF2B5EF4-FFF2-40B4-BE49-F238E27FC236}">
                <a16:creationId xmlns:a16="http://schemas.microsoft.com/office/drawing/2014/main" id="{89096BCA-2336-A5D1-84CF-92F7D948998E}"/>
              </a:ext>
            </a:extLst>
          </p:cNvPr>
          <p:cNvSpPr txBox="1"/>
          <p:nvPr/>
        </p:nvSpPr>
        <p:spPr>
          <a:xfrm>
            <a:off x="0" y="74140"/>
            <a:ext cx="10659762" cy="400110"/>
          </a:xfrm>
          <a:prstGeom prst="rect">
            <a:avLst/>
          </a:prstGeom>
          <a:noFill/>
        </p:spPr>
        <p:txBody>
          <a:bodyPr wrap="square" rtlCol="0">
            <a:spAutoFit/>
          </a:bodyPr>
          <a:lstStyle/>
          <a:p>
            <a:r>
              <a:rPr lang="en-IN" sz="2000" b="1" dirty="0">
                <a:solidFill>
                  <a:srgbClr val="00B0F0"/>
                </a:solidFill>
              </a:rPr>
              <a:t>Case 2- When PIN Entered Correct and Motion in Room and Room Temp is High</a:t>
            </a:r>
          </a:p>
        </p:txBody>
      </p:sp>
    </p:spTree>
    <p:extLst>
      <p:ext uri="{BB962C8B-B14F-4D97-AF65-F5344CB8AC3E}">
        <p14:creationId xmlns:p14="http://schemas.microsoft.com/office/powerpoint/2010/main" val="1134172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5EF471-5F09-E362-AFBA-19BA64A48781}"/>
              </a:ext>
            </a:extLst>
          </p:cNvPr>
          <p:cNvPicPr>
            <a:picLocks noChangeAspect="1"/>
          </p:cNvPicPr>
          <p:nvPr/>
        </p:nvPicPr>
        <p:blipFill>
          <a:blip r:embed="rId2"/>
          <a:stretch>
            <a:fillRect/>
          </a:stretch>
        </p:blipFill>
        <p:spPr>
          <a:xfrm>
            <a:off x="1550276" y="495046"/>
            <a:ext cx="9091448" cy="5867908"/>
          </a:xfrm>
          <a:prstGeom prst="rect">
            <a:avLst/>
          </a:prstGeom>
        </p:spPr>
      </p:pic>
      <p:sp>
        <p:nvSpPr>
          <p:cNvPr id="6" name="TextBox 5">
            <a:extLst>
              <a:ext uri="{FF2B5EF4-FFF2-40B4-BE49-F238E27FC236}">
                <a16:creationId xmlns:a16="http://schemas.microsoft.com/office/drawing/2014/main" id="{7FC58101-4AE0-C325-9F9E-B154F4F7EF9C}"/>
              </a:ext>
            </a:extLst>
          </p:cNvPr>
          <p:cNvSpPr txBox="1"/>
          <p:nvPr/>
        </p:nvSpPr>
        <p:spPr>
          <a:xfrm>
            <a:off x="0" y="74140"/>
            <a:ext cx="10659762" cy="400110"/>
          </a:xfrm>
          <a:prstGeom prst="rect">
            <a:avLst/>
          </a:prstGeom>
          <a:noFill/>
        </p:spPr>
        <p:txBody>
          <a:bodyPr wrap="square" rtlCol="0">
            <a:spAutoFit/>
          </a:bodyPr>
          <a:lstStyle/>
          <a:p>
            <a:r>
              <a:rPr lang="en-IN" sz="2000" b="1" dirty="0">
                <a:solidFill>
                  <a:srgbClr val="00B0F0"/>
                </a:solidFill>
              </a:rPr>
              <a:t>Case 3- When PIN Entered In-correct in Three Attempts Alarm Generate </a:t>
            </a:r>
          </a:p>
        </p:txBody>
      </p:sp>
    </p:spTree>
    <p:extLst>
      <p:ext uri="{BB962C8B-B14F-4D97-AF65-F5344CB8AC3E}">
        <p14:creationId xmlns:p14="http://schemas.microsoft.com/office/powerpoint/2010/main" val="6412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C63C67-3D04-2D43-2150-F4C09D6C656B}"/>
              </a:ext>
            </a:extLst>
          </p:cNvPr>
          <p:cNvSpPr txBox="1"/>
          <p:nvPr/>
        </p:nvSpPr>
        <p:spPr>
          <a:xfrm>
            <a:off x="3789406" y="2899718"/>
            <a:ext cx="4901513" cy="830997"/>
          </a:xfrm>
          <a:prstGeom prst="rect">
            <a:avLst/>
          </a:prstGeom>
          <a:noFill/>
        </p:spPr>
        <p:txBody>
          <a:bodyPr wrap="square" rtlCol="0">
            <a:spAutoFit/>
          </a:bodyPr>
          <a:lstStyle/>
          <a:p>
            <a:pPr algn="ctr"/>
            <a:r>
              <a:rPr lang="en-IN" sz="4800" b="1" dirty="0">
                <a:solidFill>
                  <a:srgbClr val="00B0F0"/>
                </a:solidFill>
              </a:rPr>
              <a:t>THANKS</a:t>
            </a:r>
          </a:p>
        </p:txBody>
      </p:sp>
    </p:spTree>
    <p:extLst>
      <p:ext uri="{BB962C8B-B14F-4D97-AF65-F5344CB8AC3E}">
        <p14:creationId xmlns:p14="http://schemas.microsoft.com/office/powerpoint/2010/main" val="3949882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72</TotalTime>
  <Words>450</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Sharma</dc:creator>
  <cp:lastModifiedBy>Deepak Sharma</cp:lastModifiedBy>
  <cp:revision>6</cp:revision>
  <dcterms:created xsi:type="dcterms:W3CDTF">2025-01-14T05:27:24Z</dcterms:created>
  <dcterms:modified xsi:type="dcterms:W3CDTF">2025-01-14T06:39:45Z</dcterms:modified>
</cp:coreProperties>
</file>